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5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101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387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31099-8A8D-5BFF-6CC5-D8029A14C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B2466B-DDAD-4010-17CF-9C2C2CAC12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119B9A-338C-3A24-C44A-67096FC1D6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C21E0-CDCF-CE30-5FF3-3801C3CDFC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996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66160" cy="51435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0" y="365760"/>
            <a:ext cx="3017520" cy="301752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777240"/>
            <a:ext cx="2194560" cy="219456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737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🌾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" y="3678549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9C46A"/>
                </a:solidFill>
              </a:rPr>
              <a:t>30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" y="40050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8F3DC"/>
                </a:solidFill>
              </a:rPr>
              <a:t>Crops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325880" y="3678549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9C46A"/>
                </a:solidFill>
              </a:rPr>
              <a:t>5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401193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8F3DC"/>
                </a:solidFill>
              </a:rPr>
              <a:t>Years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423160" y="368731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9C46A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423160" y="40050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8F3DC"/>
                </a:solidFill>
              </a:rPr>
              <a:t>Seasons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749040" y="50292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CROP YIELD, AREA &amp;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ANALYSIS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PREDICTION IN INDIA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749040" y="25146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</a:rPr>
              <a:t>Using Data Analytics &amp; Machine Learning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49040" y="288036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Five Agricultural Years: 2021-22 to 2025-26  |  30 Crops  |  3 Seasons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49040" y="3246120"/>
            <a:ext cx="5029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336499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Presented by: Rubhashree M  |  Reg. No.: 2514021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49040" y="365760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Guide: Dr M Balaji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of Contents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49808"/>
            <a:ext cx="9144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868680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960120"/>
            <a:ext cx="347472" cy="347472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60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" y="9326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332"/>
                </a:solidFill>
              </a:rPr>
              <a:t>Project Overview &amp; Objectives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50392" y="117043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Slide 3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1472184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1563624"/>
            <a:ext cx="347472" cy="347472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56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50392" y="15361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332"/>
                </a:solidFill>
              </a:rPr>
              <a:t>Data Collection &amp; Cleaning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50392" y="1773936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Slide 4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2075688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1480" y="2167128"/>
            <a:ext cx="347472" cy="347472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167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50392" y="21396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332"/>
                </a:solidFill>
              </a:rPr>
              <a:t>Chart 1 — Year-wise Trends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50392" y="237744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Slide 5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2679192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2770632"/>
            <a:ext cx="347472" cy="347472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770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0392" y="27432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332"/>
                </a:solidFill>
              </a:rPr>
              <a:t>Chart 2 &amp; 3 — Top Crops Area &amp; Production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0392" y="2980944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Slide 6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20040" y="3282696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1480" y="3374136"/>
            <a:ext cx="347472" cy="347472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374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50392" y="33467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332"/>
                </a:solidFill>
              </a:rPr>
              <a:t>Chart 4 &amp; 5 — Yield &amp; State Analysis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50392" y="358444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Slide 7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0040" y="3886200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11480" y="3977640"/>
            <a:ext cx="347472" cy="347472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3977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50392" y="39502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332"/>
                </a:solidFill>
              </a:rPr>
              <a:t>Chart 6, 7 &amp; 8 — Season &amp; Correlations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50392" y="418795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Slide 8–9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0040" y="4489704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11480" y="4581144"/>
            <a:ext cx="347472" cy="347472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4581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07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50392" y="455371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332"/>
                </a:solidFill>
              </a:rPr>
              <a:t>Feature Engineering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50392" y="4791456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Slide 10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754880" y="868680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46320" y="960120"/>
            <a:ext cx="347472" cy="347472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960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08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285232" y="9326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332"/>
                </a:solidFill>
              </a:rPr>
              <a:t>Chart 9 — Model Comparison (Detailed)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285232" y="117043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Slide 11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754880" y="1472184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846320" y="1563624"/>
            <a:ext cx="347472" cy="347472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46320" y="1563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09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285232" y="15361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332"/>
                </a:solidFill>
              </a:rPr>
              <a:t>Why Random Forest was Selected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285232" y="1773936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Slide 12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754880" y="2075688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846320" y="2167128"/>
            <a:ext cx="347472" cy="347472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46320" y="2167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10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285232" y="21396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332"/>
                </a:solidFill>
              </a:rPr>
              <a:t>Chart 10 &amp; 11 — Actual vs Predicted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5285232" y="237744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Slide 13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4754880" y="2679192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4846320" y="2770632"/>
            <a:ext cx="347472" cy="347472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46320" y="2770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11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285232" y="27432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332"/>
                </a:solidFill>
              </a:rPr>
              <a:t>Chart 12 &amp; 13 — Residuals &amp; Feature Importance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5285232" y="2980944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Slide 14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754880" y="3282696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4846320" y="3374136"/>
            <a:ext cx="347472" cy="347472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46320" y="3374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12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285232" y="33467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332"/>
                </a:solidFill>
              </a:rPr>
              <a:t>Chart 14 &amp; 15 — Forecasts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285232" y="358444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Slide 15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4754880" y="3886200"/>
            <a:ext cx="4206240" cy="530352"/>
          </a:xfrm>
          <a:prstGeom prst="round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4846320" y="3977640"/>
            <a:ext cx="347472" cy="347472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846320" y="3977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13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5285232" y="39502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332"/>
                </a:solidFill>
              </a:rPr>
              <a:t>Conclusion, Literature &amp; Thank You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5285232" y="418795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Slide 16–18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 &amp; 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49808"/>
            <a:ext cx="9144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0" y="91440"/>
            <a:ext cx="1828800" cy="237744"/>
          </a:xfrm>
          <a:prstGeom prst="roundRect">
            <a:avLst>
              <a:gd name="adj" fmla="val 19231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0" y="914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Section 1 — Overview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82296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68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5 Years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20040" y="1371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8F3DC"/>
                </a:solidFill>
              </a:rPr>
              <a:t>2021-22 to 2025-26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96312" y="82296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96312" y="868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30 Crops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496312" y="1371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8F3DC"/>
                </a:solidFill>
              </a:rPr>
              <a:t>State-wise Tracked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72584" y="82296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72584" y="868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 Seasons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72584" y="1371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8F3DC"/>
                </a:solidFill>
              </a:rPr>
              <a:t>Kharif·Rabi·Summer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48856" y="82296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48856" y="8686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78 Rows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848856" y="1371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8F3DC"/>
                </a:solidFill>
              </a:rPr>
              <a:t>19 Clean Features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1938528"/>
            <a:ext cx="4114800" cy="2834640"/>
          </a:xfrm>
          <a:prstGeom prst="roundRect">
            <a:avLst>
              <a:gd name="adj" fmla="val 258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20299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</a:rPr>
              <a:t>Problem Statement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235915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India's agricultural sector faces challenges in planning due to unpredictable crop yields. Accurate forecasting is essential for food security, policy decisions, and resource allocation.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31089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</a:rPr>
              <a:t>Tools &amp; Technologies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34472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0916C"/>
                </a:solidFill>
              </a:rPr>
              <a:t>Python: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417320" y="344728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Pandas, NumPy, Scikit-learn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8640" y="373989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0916C"/>
                </a:solidFill>
              </a:rPr>
              <a:t>Models: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417320" y="373989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Linear, Ridge, Lasso, DT, RF, XGBoost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8640" y="403250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0916C"/>
                </a:solidFill>
              </a:rPr>
              <a:t>Visuals: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417320" y="403250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Matplotlib, Seaborn (15 charts)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8640" y="432511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0916C"/>
                </a:solidFill>
              </a:rPr>
              <a:t>Data: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417320" y="432511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Govt of India — Agricultural Statistics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17720" y="1938528"/>
            <a:ext cx="4206240" cy="2834640"/>
          </a:xfrm>
          <a:prstGeom prst="roundRect">
            <a:avLst>
              <a:gd name="adj" fmla="val 258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00600" y="20299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</a:rPr>
              <a:t>Key Objectives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00600" y="2423160"/>
            <a:ext cx="237744" cy="237744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24231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93208" y="2395728"/>
            <a:ext cx="3547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Analyse year-wise &amp; season-wise trends in Area, Production &amp; Yield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00600" y="2880360"/>
            <a:ext cx="237744" cy="237744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28803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093208" y="2852928"/>
            <a:ext cx="3547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Identify top-performing crops State-Wise across all 3 metrics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00600" y="3337560"/>
            <a:ext cx="237744" cy="237744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33375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093208" y="3310128"/>
            <a:ext cx="3547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Build &amp; evaluate 6 ML regression models for crop forecasting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00600" y="3794760"/>
            <a:ext cx="237744" cy="237744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0600" y="37947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093208" y="3767328"/>
            <a:ext cx="3547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Generate accurate 2025-26 production forecasts for all major crops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800600" y="4251960"/>
            <a:ext cx="237744" cy="237744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0600" y="42519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093208" y="4224528"/>
            <a:ext cx="3547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Forecast 2026-27 production using growth rate extrapolation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 &amp; Cleaning Pipeline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Section 1: Raw CSV → 78 clean rows × 19 features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9144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9440" y="91440"/>
            <a:ext cx="1828800" cy="237744"/>
          </a:xfrm>
          <a:prstGeom prst="roundRect">
            <a:avLst>
              <a:gd name="adj" fmla="val 19231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0" y="914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Section 1 — Data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822960"/>
            <a:ext cx="1600200" cy="1874520"/>
          </a:xfrm>
          <a:prstGeom prst="roundRect">
            <a:avLst>
              <a:gd name="adj" fmla="val 5714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" y="914400"/>
            <a:ext cx="475488" cy="475488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914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146304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C46A"/>
                </a:solidFill>
              </a:rPr>
              <a:t>Load CSV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1783080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8F3DC"/>
                </a:solidFill>
              </a:rPr>
              <a:t>104 rows × 17 cols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8F3DC"/>
                </a:solidFill>
              </a:rPr>
              <a:t>Govt Portal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874520" y="1554480"/>
            <a:ext cx="137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0916C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011680" y="822960"/>
            <a:ext cx="1600200" cy="1874520"/>
          </a:xfrm>
          <a:prstGeom prst="roundRect">
            <a:avLst>
              <a:gd name="adj" fmla="val 5714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87752" y="914400"/>
            <a:ext cx="475488" cy="475488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87752" y="914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011680" y="146304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C46A"/>
                </a:solidFill>
              </a:rPr>
              <a:t>Rename Cols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11680" y="1783080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8F3DC"/>
                </a:solidFill>
              </a:rPr>
              <a:t>15 metrics → short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8F3DC"/>
                </a:solidFill>
              </a:rPr>
              <a:t>aliases (Area_2122…)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11880" y="1554480"/>
            <a:ext cx="137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0916C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749040" y="822960"/>
            <a:ext cx="1600200" cy="1874520"/>
          </a:xfrm>
          <a:prstGeom prst="roundRect">
            <a:avLst>
              <a:gd name="adj" fmla="val 5714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25112" y="914400"/>
            <a:ext cx="475488" cy="475488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25112" y="914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749040" y="146304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C46A"/>
                </a:solidFill>
              </a:rPr>
              <a:t>Remove Aggs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749040" y="1783080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8F3DC"/>
                </a:solidFill>
              </a:rPr>
              <a:t>Drop 7 summary rows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8F3DC"/>
                </a:solidFill>
              </a:rPr>
              <a:t>104 → 78 rows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349240" y="1554480"/>
            <a:ext cx="137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0916C"/>
                </a:solidFill>
              </a:rPr>
              <a:t>→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0" y="822960"/>
            <a:ext cx="1600200" cy="1874520"/>
          </a:xfrm>
          <a:prstGeom prst="roundRect">
            <a:avLst>
              <a:gd name="adj" fmla="val 5714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62472" y="914400"/>
            <a:ext cx="475488" cy="475488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62472" y="914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0" y="146304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C46A"/>
                </a:solidFill>
              </a:rPr>
              <a:t>Flag Special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0" y="1783080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8F3DC"/>
                </a:solidFill>
              </a:rPr>
              <a:t>Cotton/Jute/Mesta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8F3DC"/>
                </a:solidFill>
              </a:rPr>
              <a:t>→ Bale units flagged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86600" y="1554480"/>
            <a:ext cx="137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0916C"/>
                </a:solidFill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223760" y="822960"/>
            <a:ext cx="1600200" cy="1874520"/>
          </a:xfrm>
          <a:prstGeom prst="roundRect">
            <a:avLst>
              <a:gd name="adj" fmla="val 5714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99832" y="914400"/>
            <a:ext cx="475488" cy="475488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99832" y="914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05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223760" y="146304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C46A"/>
                </a:solidFill>
              </a:rPr>
              <a:t>Save Clean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223760" y="1783080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8F3DC"/>
                </a:solidFill>
              </a:rPr>
              <a:t>78 × 19 cols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D8F3DC"/>
                </a:solidFill>
              </a:rPr>
              <a:t>cleaned_crop_data.csv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2852928"/>
            <a:ext cx="4206240" cy="1975104"/>
          </a:xfrm>
          <a:prstGeom prst="roundRect">
            <a:avLst>
              <a:gd name="adj" fmla="val 37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57200" y="29443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</a:rPr>
              <a:t>📦  Raw Data Details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3310128"/>
            <a:ext cx="365760" cy="36576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3310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</a:rPr>
              <a:t>•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914400" y="3328416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Source: Unified Portal for Agricultural Statistics (Govt. of India)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" y="3602736"/>
            <a:ext cx="365760" cy="36576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3602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</a:rPr>
              <a:t>•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914400" y="3621024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National-level file: 104 rows × 17 columns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7200" y="3895344"/>
            <a:ext cx="365760" cy="36576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3895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</a:rPr>
              <a:t>•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914400" y="3913632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Columns: Crop name, Season + 15 numeric metric columns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57200" y="4187952"/>
            <a:ext cx="365760" cy="36576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4187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</a:rPr>
              <a:t>•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914400" y="4206240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Special crops: Cotton, Jute, Mesta, Sannhemp (in Bales, not MT)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57200" y="4480560"/>
            <a:ext cx="365760" cy="36576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</a:rPr>
              <a:t>•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914400" y="4498848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Year 2025-26 flagged as preliminary — treated with caution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663440" y="2852928"/>
            <a:ext cx="4206240" cy="1975104"/>
          </a:xfrm>
          <a:prstGeom prst="roundRect">
            <a:avLst>
              <a:gd name="adj" fmla="val 370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4846320" y="29443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</a:rPr>
              <a:t>🧹  Cleaning Actions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846320" y="3310128"/>
            <a:ext cx="365760" cy="36576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46320" y="3310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</a:rPr>
              <a:t>✓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303520" y="3328416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Renamed 15 metric columns to short aliases (Area_2122, etc.)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846320" y="3602736"/>
            <a:ext cx="365760" cy="36576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46320" y="3602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</a:rPr>
              <a:t>✓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303520" y="3621024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Removed 7 aggregate rows → 104 rows reduced to 78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846320" y="3895344"/>
            <a:ext cx="365760" cy="36576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846320" y="3895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</a:rPr>
              <a:t>✓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303520" y="3913632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Flagged bale-unit crops (is_bale_unit column added)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846320" y="4187952"/>
            <a:ext cx="365760" cy="36576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846320" y="4187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</a:rPr>
              <a:t>✓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303520" y="4206240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Added is_2526_preliminary flag for forecast year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4846320" y="4480560"/>
            <a:ext cx="365760" cy="36576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4632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</a:rPr>
              <a:t>✓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5303520" y="4498848"/>
            <a:ext cx="3383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Final clean shape: 78 rows × 19 columns → saved as CSV ✅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 1 — Year-wise National Average Trends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Consistent upward trend in Area, Production &amp; Yield from 2021-22 to 2025-26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9144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5120" y="91440"/>
            <a:ext cx="1828800" cy="237744"/>
          </a:xfrm>
          <a:prstGeom prst="roundRect">
            <a:avLst>
              <a:gd name="adj" fmla="val 19231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914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Section 2 — EDA Chart 1</a:t>
            </a:r>
            <a:endParaRPr lang="en-US" sz="8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04672"/>
            <a:ext cx="8595360" cy="27432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20040" y="3685032"/>
            <a:ext cx="365760" cy="36576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3685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📈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7240" y="3703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Area: 60 → 67 Lakh Ha (+11.7%). 2023-24 dip (62) followed by sharp rise in 2025-26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20040" y="4014216"/>
            <a:ext cx="365760" cy="36576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" y="4014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📦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77240" y="40325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Production: 279 → 343 Lakh MT (+22.9%). 2023-24 dip at 290, highest in 2025-26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20040" y="4343400"/>
            <a:ext cx="365760" cy="36576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0040" y="4343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🌾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77240" y="43616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Yield: 4013 Kg/Ha lowest in 2023-24 (drought impact), recovered to 4591 in 2025-26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20040" y="4672584"/>
            <a:ext cx="365760" cy="36576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0040" y="4672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77240" y="46908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2023-24 dip is consistent across all 3 metrics — likely weather or policy effect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 2 &amp; 3 — Top 10 Crops by Area &amp; Production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Multi-year averages. Rice dominates area; Sugarcane dominates production as an outlier.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9144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0" y="91440"/>
            <a:ext cx="1828800" cy="237744"/>
          </a:xfrm>
          <a:prstGeom prst="roundRect">
            <a:avLst>
              <a:gd name="adj" fmla="val 19231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914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Section 2 — EDA Chart 2&amp;3</a:t>
            </a:r>
            <a:endParaRPr lang="en-US" sz="8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04672"/>
            <a:ext cx="4251960" cy="1920240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804672"/>
            <a:ext cx="4251960" cy="19202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74320" y="2834640"/>
            <a:ext cx="4206240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65760" y="2953512"/>
            <a:ext cx="365760" cy="36576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65760" y="2953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🥇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841248" y="2944368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Rice (484.7 Lakh Ha) leads area — almost 1.5× Wheat (319.9)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274320" y="3547872"/>
            <a:ext cx="4206240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65760" y="3666744"/>
            <a:ext cx="365760" cy="36576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65760" y="3666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🏆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841248" y="3657600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Sugarcane (4675.8 Lakh MT) is production outlier — 3.4× Rice (1387.8)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274320" y="4261104"/>
            <a:ext cx="4206240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65760" y="4379976"/>
            <a:ext cx="365760" cy="36576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65760" y="4379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⚠️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841248" y="4370832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Sugarcane dominance distorts all-crop averages — separate analysis needed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4937760" y="2834640"/>
            <a:ext cx="4206240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5029200" y="2953512"/>
            <a:ext cx="365760" cy="36576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029200" y="2953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📊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5504688" y="2944368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Soybean, Cotton, Maize: significant area but moderate production shows low yield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4937760" y="3547872"/>
            <a:ext cx="4206240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5029200" y="3666744"/>
            <a:ext cx="365760" cy="36576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0" y="3666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5504688" y="3657600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Rice &amp; Wheat: backbone of India's food security — largest area &amp; high production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4875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 4 — Top Crops by Yield  |  Chart 5 — Top States by Production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10363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Sugarcane yield outlier at 83,224 Kg/Ha. UP leads state-wise production.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9144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0" y="329783"/>
            <a:ext cx="1828800" cy="237744"/>
          </a:xfrm>
          <a:prstGeom prst="roundRect">
            <a:avLst>
              <a:gd name="adj" fmla="val 19231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3474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Section 2 — EDA Chart 4&amp;5</a:t>
            </a:r>
            <a:endParaRPr lang="en-US" sz="8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04672"/>
            <a:ext cx="4251960" cy="1965960"/>
          </a:xfrm>
          <a:prstGeom prst="rect">
            <a:avLst/>
          </a:prstGeom>
        </p:spPr>
      </p:pic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804672"/>
            <a:ext cx="4251960" cy="19659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74320" y="2880360"/>
            <a:ext cx="4206240" cy="621792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65760" y="2990088"/>
            <a:ext cx="365760" cy="36576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65760" y="2990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⚠️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841248" y="29718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Sugarcane yield = 83,224 Kg/Ha — 23× higher than Wheat (3,561). Pure outlier effect.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274320" y="3575304"/>
            <a:ext cx="4206240" cy="621792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65760" y="3685032"/>
            <a:ext cx="365760" cy="36576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65760" y="3685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🌾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841248" y="366674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Wheat (3,561), Maize (3,494), Barley (3,107): high-yield crops worth scaling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274320" y="4270248"/>
            <a:ext cx="4206240" cy="621792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65760" y="4379976"/>
            <a:ext cx="365760" cy="36576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65760" y="4379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🏅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841248" y="436168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Uttar Pradesh (174.7 Lakh T) tops state production — Sugarcane &amp; Wheat belt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4937760" y="2880360"/>
            <a:ext cx="4206240" cy="621792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5029200" y="2990088"/>
            <a:ext cx="365760" cy="36576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029200" y="2990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📍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5504688" y="297180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Telangana (161.9), West Bengal (151.7): high productivity despite smaller area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4937760" y="3575304"/>
            <a:ext cx="4206240" cy="621792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5029200" y="3685032"/>
            <a:ext cx="365760" cy="36576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0" y="3685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💡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5504688" y="3666744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Tamil Nadu (72.1) — relatively lower but rising production trend observed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 6 — Season Distribution (Kharif | Rabi | Summer)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Kharif dominates with 47.9% of crop rows; Summer contributes only 18.8%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9144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5120" y="91440"/>
            <a:ext cx="1828800" cy="237744"/>
          </a:xfrm>
          <a:prstGeom prst="roundRect">
            <a:avLst>
              <a:gd name="adj" fmla="val 19231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914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Section 2 — EDA Chart 6</a:t>
            </a:r>
            <a:endParaRPr lang="en-US" sz="8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777240"/>
            <a:ext cx="4572000" cy="33832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74320" y="804672"/>
            <a:ext cx="1828800" cy="333756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65760" y="9601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332"/>
                </a:solidFill>
              </a:rPr>
              <a:t>Season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B4332"/>
                </a:solidFill>
              </a:rPr>
              <a:t>Breakdown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0040" y="1554480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0040" y="15544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Kharif: 47.9%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47472" y="1837944"/>
            <a:ext cx="16824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June–Nov: Monsoon season. Rice, Maize, Soybean, Cotton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0040" y="2688336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0040" y="26883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Rabi: 33.3%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47472" y="2971800"/>
            <a:ext cx="16824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Oct–Mar: Winter season. Wheat, Gram, Rapeseed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20040" y="3822192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20040" y="38221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Summer: 18.8%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47472" y="4105656"/>
            <a:ext cx="16824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Mar–Jun: Hot season. Vegetables, Groundnut, Rice (2nd crop)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995160" y="4251960"/>
            <a:ext cx="365760" cy="36576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995160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📊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6995160" y="4251960"/>
            <a:ext cx="365760" cy="36576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995160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📊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995160" y="4251960"/>
            <a:ext cx="365760" cy="36576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995160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💡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995160" y="4251960"/>
            <a:ext cx="365760" cy="36576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995160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💡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995160" y="4251960"/>
            <a:ext cx="365760" cy="36576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995160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💡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949440" y="804672"/>
            <a:ext cx="1874520" cy="420624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7040880" y="8961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332"/>
                </a:solidFill>
              </a:rPr>
              <a:t>Key Observations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7040880" y="1243584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• Kharif leads due to rice — India's primary food crop (monsoon-dependent)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7040880" y="190195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• Rabi anchored by wheat — critical winter staple crop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7040880" y="25603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• Summer crops smaller in count but important for regional food systems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7040880" y="321868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• Season encoding (one-hot) used as feature in all ML models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7040880" y="3877056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• Models must account for season effects on yield differences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39F063-B1D7-4F52-2670-E46CCFE4F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2EBCE61-2CE9-BC86-2403-E2B4069B55A3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960EEBD-C886-2752-560D-83D1F476B7FF}"/>
              </a:ext>
            </a:extLst>
          </p:cNvPr>
          <p:cNvSpPr/>
          <p:nvPr/>
        </p:nvSpPr>
        <p:spPr>
          <a:xfrm>
            <a:off x="320040" y="170288"/>
            <a:ext cx="8297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2000" b="1" dirty="0">
                <a:latin typeface="Cambria" panose="02040503050406030204" pitchFamily="18" charset="0"/>
                <a:ea typeface="Cambria" panose="02040503050406030204" pitchFamily="18" charset="0"/>
              </a:rPr>
              <a:t>Chart 6B — Season-wise Production &amp; Yield (Multi-Year Average)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0695A2C-AD45-D112-280B-413E014CD9ED}"/>
              </a:ext>
            </a:extLst>
          </p:cNvPr>
          <p:cNvSpPr/>
          <p:nvPr/>
        </p:nvSpPr>
        <p:spPr>
          <a:xfrm>
            <a:off x="0" y="749808"/>
            <a:ext cx="9144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7312074-577F-CCA2-0E67-E6A2091DD54D}"/>
              </a:ext>
            </a:extLst>
          </p:cNvPr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4EBB92E-1E68-2945-BDD5-F42B6469FE37}"/>
              </a:ext>
            </a:extLst>
          </p:cNvPr>
          <p:cNvSpPr/>
          <p:nvPr/>
        </p:nvSpPr>
        <p:spPr>
          <a:xfrm>
            <a:off x="6675120" y="91440"/>
            <a:ext cx="1828800" cy="237744"/>
          </a:xfrm>
          <a:prstGeom prst="roundRect">
            <a:avLst>
              <a:gd name="adj" fmla="val 19231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A452439-E98A-0ACB-8FAB-E17A557773A4}"/>
              </a:ext>
            </a:extLst>
          </p:cNvPr>
          <p:cNvSpPr/>
          <p:nvPr/>
        </p:nvSpPr>
        <p:spPr>
          <a:xfrm>
            <a:off x="6675120" y="914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Section 2 — EDA Chart 6</a:t>
            </a:r>
            <a:endParaRPr lang="en-US" sz="8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42365038-41FF-C839-123D-DA0AAB2756D1}"/>
              </a:ext>
            </a:extLst>
          </p:cNvPr>
          <p:cNvSpPr/>
          <p:nvPr/>
        </p:nvSpPr>
        <p:spPr>
          <a:xfrm>
            <a:off x="365760" y="9601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4332"/>
                </a:solidFill>
              </a:rPr>
              <a:t>Season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B4332"/>
                </a:solidFill>
              </a:rPr>
              <a:t>Breakdown</a:t>
            </a:r>
            <a:endParaRPr lang="en-US" sz="11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D4A5EF4E-5463-6CD3-C559-B1667175C17D}"/>
              </a:ext>
            </a:extLst>
          </p:cNvPr>
          <p:cNvSpPr/>
          <p:nvPr/>
        </p:nvSpPr>
        <p:spPr>
          <a:xfrm>
            <a:off x="320040" y="1554480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FF71A7D3-22BC-6C0C-5E13-77B05AEE8842}"/>
              </a:ext>
            </a:extLst>
          </p:cNvPr>
          <p:cNvSpPr/>
          <p:nvPr/>
        </p:nvSpPr>
        <p:spPr>
          <a:xfrm>
            <a:off x="320040" y="15544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Kharif: 47.9%</a:t>
            </a:r>
            <a:endParaRPr lang="en-US" sz="9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ABD7D6D9-BA80-A451-F380-68EDB6044DD6}"/>
              </a:ext>
            </a:extLst>
          </p:cNvPr>
          <p:cNvSpPr/>
          <p:nvPr/>
        </p:nvSpPr>
        <p:spPr>
          <a:xfrm>
            <a:off x="347472" y="1837944"/>
            <a:ext cx="16824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June–Nov: Monsoon season. Rice, Maize, Soybean, Cotton</a:t>
            </a:r>
            <a:endParaRPr lang="en-US" sz="85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21D2A07B-7D48-A834-BEA4-0C14374DE54C}"/>
              </a:ext>
            </a:extLst>
          </p:cNvPr>
          <p:cNvSpPr/>
          <p:nvPr/>
        </p:nvSpPr>
        <p:spPr>
          <a:xfrm>
            <a:off x="320040" y="2688336"/>
            <a:ext cx="1737360" cy="256032"/>
          </a:xfrm>
          <a:prstGeom prst="roundRect">
            <a:avLst>
              <a:gd name="adj" fmla="val 14286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F4039FB0-1475-4F0E-2D6E-55518F1137E6}"/>
              </a:ext>
            </a:extLst>
          </p:cNvPr>
          <p:cNvSpPr/>
          <p:nvPr/>
        </p:nvSpPr>
        <p:spPr>
          <a:xfrm>
            <a:off x="320040" y="26883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Rabi: 33.3%</a:t>
            </a:r>
            <a:endParaRPr lang="en-US" sz="9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7B1F66E9-EA09-C374-9D1B-8B337289C48A}"/>
              </a:ext>
            </a:extLst>
          </p:cNvPr>
          <p:cNvSpPr/>
          <p:nvPr/>
        </p:nvSpPr>
        <p:spPr>
          <a:xfrm>
            <a:off x="320040" y="382219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Summer: 18.8%</a:t>
            </a:r>
            <a:endParaRPr lang="en-US" sz="900" dirty="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67D15872-ABF6-6F26-310D-241EF5B364BD}"/>
              </a:ext>
            </a:extLst>
          </p:cNvPr>
          <p:cNvSpPr/>
          <p:nvPr/>
        </p:nvSpPr>
        <p:spPr>
          <a:xfrm>
            <a:off x="7040880" y="89611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332"/>
                </a:solidFill>
              </a:rPr>
              <a:t>Key Observations</a:t>
            </a:r>
            <a:endParaRPr lang="en-US" sz="1000" dirty="0"/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64BCC116-DF3E-DC0C-2EDC-8DD6406BEBA7}"/>
              </a:ext>
            </a:extLst>
          </p:cNvPr>
          <p:cNvSpPr/>
          <p:nvPr/>
        </p:nvSpPr>
        <p:spPr>
          <a:xfrm>
            <a:off x="7040880" y="1243584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• Kharif leads due to rice — India's primary food crop (monsoon-dependent)</a:t>
            </a:r>
            <a:endParaRPr lang="en-US" sz="850" dirty="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4F4672C9-C6A7-4C79-2771-AD07AF20662C}"/>
              </a:ext>
            </a:extLst>
          </p:cNvPr>
          <p:cNvSpPr/>
          <p:nvPr/>
        </p:nvSpPr>
        <p:spPr>
          <a:xfrm>
            <a:off x="7040880" y="190195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• Rabi anchored by wheat — critical winter staple crop</a:t>
            </a:r>
            <a:endParaRPr lang="en-US" sz="85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27949F04-9DA9-7683-4F3B-2FF2219398D9}"/>
              </a:ext>
            </a:extLst>
          </p:cNvPr>
          <p:cNvSpPr/>
          <p:nvPr/>
        </p:nvSpPr>
        <p:spPr>
          <a:xfrm>
            <a:off x="7040880" y="25603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• Summer crops smaller in count but important for regional food systems</a:t>
            </a:r>
            <a:endParaRPr lang="en-US" sz="85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FAC45615-D075-132C-A835-F631106A39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30" y="822381"/>
            <a:ext cx="8904159" cy="2496891"/>
          </a:xfrm>
          <a:prstGeom prst="rect">
            <a:avLst/>
          </a:prstGeom>
        </p:spPr>
      </p:pic>
      <p:sp>
        <p:nvSpPr>
          <p:cNvPr id="44" name="Shape 28">
            <a:extLst>
              <a:ext uri="{FF2B5EF4-FFF2-40B4-BE49-F238E27FC236}">
                <a16:creationId xmlns:a16="http://schemas.microsoft.com/office/drawing/2014/main" id="{F921793A-C14B-5ECB-6DED-54A5DC98B359}"/>
              </a:ext>
            </a:extLst>
          </p:cNvPr>
          <p:cNvSpPr/>
          <p:nvPr/>
        </p:nvSpPr>
        <p:spPr>
          <a:xfrm>
            <a:off x="472191" y="3319272"/>
            <a:ext cx="8484432" cy="1653940"/>
          </a:xfrm>
          <a:prstGeom prst="roundRect">
            <a:avLst>
              <a:gd name="adj" fmla="val 23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algn="just"/>
            <a:endParaRPr lang="en-IN" sz="900" dirty="0"/>
          </a:p>
          <a:p>
            <a:pPr marL="228600" indent="-228600" algn="just">
              <a:buFont typeface="+mj-lt"/>
              <a:buAutoNum type="arabicPeriod"/>
            </a:pPr>
            <a:r>
              <a:rPr lang="en-IN" sz="900" dirty="0"/>
              <a:t> Kharif: 6,986 Lakh MT — about 78% of total production across the three seasons, also the highest average yield (4,842 Kg/Ha).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n-IN" sz="900" dirty="0"/>
              <a:t> Rabi: 1,785 Lakh MT (~20% share), with average yield of 1,787 Kg/Ha — moderate volume, moderate productivity.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n-IN" sz="900" dirty="0"/>
              <a:t> Summer: smallest volume (185 Lakh MT, ~2% share), but yield (1,972 Kg/Ha) is close to Rabi's despite far less area under cultivation. </a:t>
            </a:r>
          </a:p>
          <a:p>
            <a:pPr marL="228600" indent="-228600" algn="just">
              <a:buFont typeface="+mj-lt"/>
              <a:buAutoNum type="arabicPeriod"/>
            </a:pPr>
            <a:r>
              <a:rPr lang="en-IN" sz="900" dirty="0"/>
              <a:t> Compared to Chart 6's row-count split (Kharif 47.9% / Rabi 33.3% / Summer 18.8%), </a:t>
            </a:r>
            <a:r>
              <a:rPr lang="en-IN" sz="900" dirty="0" err="1"/>
              <a:t>Kharif's</a:t>
            </a:r>
            <a:r>
              <a:rPr lang="en-IN" sz="900" dirty="0"/>
              <a:t> production share (78%) is much higher than its crop-count share — meaning      Kharif crops are, on average, heavier producers per entry.</a:t>
            </a:r>
          </a:p>
          <a:p>
            <a:endParaRPr lang="en-US" sz="850" dirty="0"/>
          </a:p>
        </p:txBody>
      </p:sp>
    </p:spTree>
    <p:extLst>
      <p:ext uri="{BB962C8B-B14F-4D97-AF65-F5344CB8AC3E}">
        <p14:creationId xmlns:p14="http://schemas.microsoft.com/office/powerpoint/2010/main" val="994395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 7 &amp; 8 — Correlation Heatmaps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With all crops vs. excluding Sugarcane outlier — reveals true Area-Production relationship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9144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0" y="91440"/>
            <a:ext cx="1828800" cy="237744"/>
          </a:xfrm>
          <a:prstGeom prst="roundRect">
            <a:avLst>
              <a:gd name="adj" fmla="val 19231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914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Section 2 — EDA Chart 7&amp;8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" y="82296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332"/>
                </a:solidFill>
              </a:rPr>
              <a:t>Chart 7 — All Crops (Sugarcane included)</a:t>
            </a:r>
            <a:endParaRPr lang="en-US" sz="10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0"/>
            <a:ext cx="4251960" cy="30175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663440" y="822960"/>
            <a:ext cx="4251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332"/>
                </a:solidFill>
              </a:rPr>
              <a:t>Chart 8 — Excluding Sugarcane Outlier</a:t>
            </a:r>
            <a:endParaRPr lang="en-US" sz="10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097280"/>
            <a:ext cx="4251960" cy="30175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20040" y="4206240"/>
            <a:ext cx="365760" cy="36576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20040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🔗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7724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Area–Area &amp; Prod–Prod correlations: r ≈ 1.00 across years — stable growth patterns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20040" y="4206240"/>
            <a:ext cx="365760" cy="36576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20040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⚠️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20040" y="4206240"/>
            <a:ext cx="365760" cy="36576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20040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274320" y="4206240"/>
            <a:ext cx="365760" cy="36576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274320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🔗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274320" y="4526280"/>
            <a:ext cx="365760" cy="36576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274320" y="4526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⚠️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731520" y="45537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With Sugarcane: Area–Prod r ≈ 0.31–0.36 only (Sugarcane's extreme yield masks pattern)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274320" y="4846320"/>
            <a:ext cx="365760" cy="36576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274320" y="4846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731520" y="48737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Without Sugarcane: Area–Prod r jumps to ≈ 0.96–0.97 — strong predictability restored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 — Section 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Wide → Long reshape + 13 engineered predictors used in all ML models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9144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0" y="91440"/>
            <a:ext cx="1828800" cy="237744"/>
          </a:xfrm>
          <a:prstGeom prst="roundRect">
            <a:avLst>
              <a:gd name="adj" fmla="val 19231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914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Section 3 — Feature Eng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822960"/>
            <a:ext cx="2377440" cy="1554480"/>
          </a:xfrm>
          <a:prstGeom prst="roundRect">
            <a:avLst>
              <a:gd name="adj" fmla="val 4706"/>
            </a:avLst>
          </a:prstGeom>
          <a:solidFill>
            <a:srgbClr val="1B4332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" y="8686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9C46A"/>
                </a:solidFill>
              </a:rPr>
              <a:t>WIDE FORMAT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118872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8F3DC"/>
                </a:solidFill>
              </a:rPr>
              <a:t>78 rows × 19 cols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8F3DC"/>
                </a:solidFill>
              </a:rPr>
              <a:t>(one row per crop-season)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24912" y="137160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0916C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063240" y="822960"/>
            <a:ext cx="2377440" cy="1554480"/>
          </a:xfrm>
          <a:prstGeom prst="roundRect">
            <a:avLst>
              <a:gd name="adj" fmla="val 4706"/>
            </a:avLst>
          </a:prstGeom>
          <a:solidFill>
            <a:srgbClr val="1B4332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063240" y="86868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9C46A"/>
                </a:solidFill>
              </a:rPr>
              <a:t>LONG FORMAT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63240" y="118872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8F3DC"/>
                </a:solidFill>
              </a:rPr>
              <a:t>390 rows × 25 cols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8F3DC"/>
                </a:solidFill>
              </a:rPr>
              <a:t>(one row per crop-season-year)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69280" y="822960"/>
            <a:ext cx="3200400" cy="1554480"/>
          </a:xfrm>
          <a:prstGeom prst="roundRect">
            <a:avLst>
              <a:gd name="adj" fmla="val 470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806440" y="914400"/>
            <a:ext cx="2971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Lag &amp; Interaction features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806440" y="1143000"/>
            <a:ext cx="2971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</a:t>
            </a:r>
            <a:r>
              <a:rPr lang="en-US" sz="700" dirty="0">
                <a:solidFill>
                  <a:srgbClr val="FDA4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"Prod_lag1"</a:t>
            </a:r>
            <a:r>
              <a:rPr lang="en-US" sz="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df.</a:t>
            </a:r>
            <a:r>
              <a:rPr lang="en-US" sz="7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</a:t>
            </a:r>
            <a:r>
              <a:rPr lang="en-US" sz="7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(["Crop","Season_enc"])["Production"].</a:t>
            </a:r>
            <a:r>
              <a:rPr lang="en-US" sz="7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</a:t>
            </a:r>
            <a:r>
              <a:rPr lang="en-US" sz="7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(1)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806440" y="1371600"/>
            <a:ext cx="2971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</a:t>
            </a:r>
            <a:r>
              <a:rPr lang="en-US" sz="700" dirty="0">
                <a:solidFill>
                  <a:srgbClr val="FDA4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"Yield_lag1"</a:t>
            </a:r>
            <a:r>
              <a:rPr lang="en-US" sz="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df.</a:t>
            </a:r>
            <a:r>
              <a:rPr lang="en-US" sz="7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</a:t>
            </a:r>
            <a:r>
              <a:rPr lang="en-US" sz="7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(["Crop","Season_enc"])["Yield"].</a:t>
            </a:r>
            <a:r>
              <a:rPr lang="en-US" sz="7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</a:t>
            </a:r>
            <a:r>
              <a:rPr lang="en-US" sz="7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(1)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806440" y="1600200"/>
            <a:ext cx="2971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</a:t>
            </a:r>
            <a:r>
              <a:rPr lang="en-US" sz="700" dirty="0">
                <a:solidFill>
                  <a:srgbClr val="FDA4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"Area_x_Yield"</a:t>
            </a:r>
            <a:r>
              <a:rPr lang="en-US" sz="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df[</a:t>
            </a:r>
            <a:r>
              <a:rPr lang="en-US" sz="700" dirty="0">
                <a:solidFill>
                  <a:srgbClr val="FDA4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"Area"</a:t>
            </a:r>
            <a:r>
              <a:rPr lang="en-US" sz="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* df[</a:t>
            </a:r>
            <a:r>
              <a:rPr lang="en-US" sz="700" dirty="0">
                <a:solidFill>
                  <a:srgbClr val="FDA4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"Yield"</a:t>
            </a:r>
            <a:r>
              <a:rPr lang="en-US" sz="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5806440" y="1828800"/>
            <a:ext cx="2971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</a:t>
            </a:r>
            <a:r>
              <a:rPr lang="en-US" sz="700" dirty="0">
                <a:solidFill>
                  <a:srgbClr val="FDA4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"Prod_trend"</a:t>
            </a:r>
            <a:r>
              <a:rPr lang="en-US" sz="7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= df.</a:t>
            </a:r>
            <a:r>
              <a:rPr lang="en-US" sz="7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</a:t>
            </a:r>
            <a:r>
              <a:rPr lang="en-US" sz="7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(["Crop","Season_enc"])["Production"].</a:t>
            </a:r>
            <a:r>
              <a:rPr lang="en-US" sz="7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pct_change</a:t>
            </a:r>
            <a:r>
              <a:rPr lang="en-US" sz="7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74320" y="24871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</a:rPr>
              <a:t>13 Engineered Features (FEATURES list passed to all models)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834640"/>
            <a:ext cx="285292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2889504"/>
            <a:ext cx="502920" cy="274320"/>
          </a:xfrm>
          <a:prstGeom prst="roundRect">
            <a:avLst>
              <a:gd name="adj" fmla="val 13333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288950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77824" y="28712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332"/>
                </a:solidFill>
              </a:rPr>
              <a:t>Yield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77824" y="305409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Production ÷ Area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917700" y="2926080"/>
            <a:ext cx="11729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0916C"/>
                </a:solidFill>
              </a:rPr>
              <a:t>22.6%* Second top feat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74320" y="3273552"/>
            <a:ext cx="285292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328416"/>
            <a:ext cx="502920" cy="274320"/>
          </a:xfrm>
          <a:prstGeom prst="roundRect">
            <a:avLst>
              <a:gd name="adj" fmla="val 13333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32841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77824" y="33101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332"/>
                </a:solidFill>
              </a:rPr>
              <a:t>Prod_lag1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77824" y="349300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Prior year production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039815" y="3378708"/>
            <a:ext cx="1050857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0916C"/>
                </a:solidFill>
              </a:rPr>
              <a:t>37.9%* first top feat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74320" y="3712464"/>
            <a:ext cx="285292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3767328"/>
            <a:ext cx="502920" cy="274320"/>
          </a:xfrm>
          <a:prstGeom prst="roundRect">
            <a:avLst>
              <a:gd name="adj" fmla="val 13333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7673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77824" y="37490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332"/>
                </a:solidFill>
              </a:rPr>
              <a:t>Yield_lag1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77824" y="39319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Historical yield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267712" y="380390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0916C"/>
                </a:solidFill>
              </a:rPr>
              <a:t>19.8%–21.5%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74320" y="4151376"/>
            <a:ext cx="285292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040" y="4206240"/>
            <a:ext cx="502920" cy="274320"/>
          </a:xfrm>
          <a:prstGeom prst="roundRect">
            <a:avLst>
              <a:gd name="adj" fmla="val 13333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42062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77824" y="41879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332"/>
                </a:solidFill>
              </a:rPr>
              <a:t>Area_x_Yield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77824" y="437083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Area × Yield interaction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267712" y="424281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0916C"/>
                </a:solidFill>
              </a:rPr>
              <a:t>14.4%–17.3%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74320" y="4590288"/>
            <a:ext cx="285292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20040" y="4645152"/>
            <a:ext cx="502920" cy="274320"/>
          </a:xfrm>
          <a:prstGeom prst="roundRect">
            <a:avLst>
              <a:gd name="adj" fmla="val 13333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" y="46451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77824" y="46268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332"/>
                </a:solidFill>
              </a:rPr>
              <a:t>Area_lag1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877824" y="480974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Prior year cultivated area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267712" y="468172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0916C"/>
                </a:solidFill>
              </a:rPr>
              <a:t>2.2%–3.8%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3273552" y="2834640"/>
            <a:ext cx="285292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319272" y="2889504"/>
            <a:ext cx="502920" cy="274320"/>
          </a:xfrm>
          <a:prstGeom prst="roundRect">
            <a:avLst>
              <a:gd name="adj" fmla="val 13333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19272" y="288950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06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877056" y="28712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332"/>
                </a:solidFill>
              </a:rPr>
              <a:t>Area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3877056" y="305409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Current cultivated area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266944" y="29260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0916C"/>
                </a:solidFill>
              </a:rPr>
              <a:t>1.6%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3273552" y="3273552"/>
            <a:ext cx="285292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3319272" y="3328416"/>
            <a:ext cx="502920" cy="274320"/>
          </a:xfrm>
          <a:prstGeom prst="roundRect">
            <a:avLst>
              <a:gd name="adj" fmla="val 13333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319272" y="332841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07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3877056" y="33101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332"/>
                </a:solidFill>
              </a:rPr>
              <a:t>Year_num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3877056" y="349300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Numeric year (2021–2025)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266944" y="336499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0916C"/>
                </a:solidFill>
              </a:rPr>
              <a:t>Trend feature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3273552" y="3712464"/>
            <a:ext cx="285292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3319272" y="3767328"/>
            <a:ext cx="502920" cy="274320"/>
          </a:xfrm>
          <a:prstGeom prst="roundRect">
            <a:avLst>
              <a:gd name="adj" fmla="val 13333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319272" y="37673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08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3877056" y="37490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332"/>
                </a:solidFill>
              </a:rPr>
              <a:t>Crop_enc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3877056" y="39319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Label-encoded crop name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266944" y="380390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0916C"/>
                </a:solidFill>
              </a:rPr>
              <a:t>Identity feature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3273552" y="4151376"/>
            <a:ext cx="285292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3319272" y="4206240"/>
            <a:ext cx="502920" cy="274320"/>
          </a:xfrm>
          <a:prstGeom prst="roundRect">
            <a:avLst>
              <a:gd name="adj" fmla="val 13333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319272" y="42062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09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3877056" y="41879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332"/>
                </a:solidFill>
              </a:rPr>
              <a:t>Season_enc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3877056" y="437083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Label-encoded season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5266944" y="424281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0916C"/>
                </a:solidFill>
              </a:rPr>
              <a:t>Categorical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3273552" y="4590288"/>
            <a:ext cx="285292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3319272" y="4645152"/>
            <a:ext cx="502920" cy="274320"/>
          </a:xfrm>
          <a:prstGeom prst="roundRect">
            <a:avLst>
              <a:gd name="adj" fmla="val 13333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19272" y="464515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10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3877056" y="462686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332"/>
                </a:solidFill>
              </a:rPr>
              <a:t>Season dummies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3877056" y="480974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One-hot: Kharif/Rabi/Summer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5266944" y="468172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0916C"/>
                </a:solidFill>
              </a:rPr>
              <a:t>One-hot encoded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6272784" y="2834640"/>
            <a:ext cx="285292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84" name="Shape 82"/>
          <p:cNvSpPr/>
          <p:nvPr/>
        </p:nvSpPr>
        <p:spPr>
          <a:xfrm>
            <a:off x="6318504" y="2889504"/>
            <a:ext cx="502920" cy="274320"/>
          </a:xfrm>
          <a:prstGeom prst="roundRect">
            <a:avLst>
              <a:gd name="adj" fmla="val 13333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318504" y="288950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11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6876288" y="28712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332"/>
                </a:solidFill>
              </a:rPr>
              <a:t>Prod_trend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6876288" y="305409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YoY % change production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8266176" y="29260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0916C"/>
                </a:solidFill>
              </a:rPr>
              <a:t>Trend signal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6272784" y="3273552"/>
            <a:ext cx="285292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0" name="Shape 88"/>
          <p:cNvSpPr/>
          <p:nvPr/>
        </p:nvSpPr>
        <p:spPr>
          <a:xfrm>
            <a:off x="6318504" y="3328416"/>
            <a:ext cx="502920" cy="274320"/>
          </a:xfrm>
          <a:prstGeom prst="roundRect">
            <a:avLst>
              <a:gd name="adj" fmla="val 13333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318504" y="332841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12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6876288" y="33101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332"/>
                </a:solidFill>
              </a:rPr>
              <a:t>Area_trend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6876288" y="349300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YoY % change in area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8266176" y="336499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0916C"/>
                </a:solidFill>
              </a:rPr>
              <a:t>Trend signal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6272784" y="3712464"/>
            <a:ext cx="285292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96" name="Shape 94"/>
          <p:cNvSpPr/>
          <p:nvPr/>
        </p:nvSpPr>
        <p:spPr>
          <a:xfrm>
            <a:off x="6318504" y="3767328"/>
            <a:ext cx="502920" cy="274320"/>
          </a:xfrm>
          <a:prstGeom prst="roundRect">
            <a:avLst>
              <a:gd name="adj" fmla="val 13333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318504" y="37673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13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6876288" y="37490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332"/>
                </a:solidFill>
              </a:rPr>
              <a:t>is_bale_unit</a:t>
            </a:r>
            <a:endParaRPr lang="en-US" sz="950" dirty="0"/>
          </a:p>
        </p:txBody>
      </p:sp>
      <p:sp>
        <p:nvSpPr>
          <p:cNvPr id="99" name="Text 97"/>
          <p:cNvSpPr/>
          <p:nvPr/>
        </p:nvSpPr>
        <p:spPr>
          <a:xfrm>
            <a:off x="6876288" y="39319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Bale-unit crop flag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8266176" y="380390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40916C"/>
                </a:solidFill>
              </a:rPr>
              <a:t>Unit correction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 9 — Model Comparison (2025-26 Test Set)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Detailed evaluation of all 6 ML models | Time-based split: Train 2021-24, Test 2025-26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9144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91440"/>
            <a:ext cx="1828800" cy="237744"/>
          </a:xfrm>
          <a:prstGeom prst="roundRect">
            <a:avLst>
              <a:gd name="adj" fmla="val 19231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0" y="914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Section 4 — Model Evaluation</a:t>
            </a:r>
            <a:endParaRPr lang="en-US" sz="8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04672"/>
            <a:ext cx="5486400" cy="2468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89320" y="822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</a:rPr>
              <a:t>How Models Were Compared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89320" y="1170432"/>
            <a:ext cx="283464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080760" y="1243584"/>
            <a:ext cx="365760" cy="36576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80760" y="12435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📐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537960" y="1207008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RMSE — Root Mean Squared Error: penalises large errors heavily. Lower = better.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989320" y="1938528"/>
            <a:ext cx="283464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080760" y="2011680"/>
            <a:ext cx="365760" cy="36576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80760" y="2011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📏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537960" y="1975104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MAE — Mean Absolute Error: average prediction error in production units. Lower = better.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989320" y="2706624"/>
            <a:ext cx="283464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080760" y="2779776"/>
            <a:ext cx="365760" cy="36576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80760" y="2779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📈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537960" y="2743200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R² Score — coefficient of determination: 1.0 = perfect model. Closer to 1 = better.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537960" y="3511296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Time-split: all models trained on 2021-24, tested on 2025-26 to prevent data leakage.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274320" y="338328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</a:rPr>
              <a:t>All 6 Models — What Each Does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274320" y="3703320"/>
            <a:ext cx="859536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65760" y="372160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Linear Regression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2331720" y="372160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RMSE:33.51  MAE:17.7  R²:0.9984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4572000" y="372160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Assumes all features have linear additive effect. Simple but misses non-linear crop interactions.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274320" y="3931920"/>
            <a:ext cx="8595360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65760" y="395020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Ridge Regression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2331720" y="395020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RMSE:38.55  MAE:22.32  R²:0.9979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572000" y="395020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Linear + L2 penalty. Shrinks coefficients to reduce overfitting. Slight improvement in variance control.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274320" y="4160520"/>
            <a:ext cx="8595360" cy="201168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65760" y="417880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Lasso Regression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2331720" y="417880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RMSE:33.59  MAE:15.69  R²:0.9984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4572000" y="417880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Linear + L1 penalty. Drives some coefficients to zero (feature selection). Similar to Ridge here.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274320" y="4389120"/>
            <a:ext cx="8595360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65760" y="440740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Decision Tree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2331720" y="440740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RMSE:13.01  MAE:3.35  R²:0.9998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4572000" y="440740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Tree-based: splits data by feature thresholds. Handles non-linearity but prone to overfit.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274320" y="4617720"/>
            <a:ext cx="8595360" cy="201168"/>
          </a:xfrm>
          <a:prstGeom prst="roundRect">
            <a:avLst>
              <a:gd name="adj" fmla="val 13636"/>
            </a:avLst>
          </a:prstGeom>
          <a:solidFill>
            <a:srgbClr val="D8F3D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65760" y="463600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4332"/>
                </a:solidFill>
              </a:rPr>
              <a:t>Random Forest ✓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2331720" y="463600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4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RMSE:16.52  MAE:5.58  R²:0.9996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4572000" y="463600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Ensemble of 200 trees. Averages predictions → reduces overfitting. SELECTED MODEL.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274320" y="4846320"/>
            <a:ext cx="8595360" cy="201168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65760" y="486460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XGBoost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2331720" y="486460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RMSE:13.47  MAE:3.84  R²:0.9997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4572000" y="486460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Gradient boosting on trees. Highly accurate but Decision Tree overfits here at depth=8.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Random Forest Was Selected as the Final Model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A detailed analysis of the selection rationale over Decision Tree &amp; XGBoost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9144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91440"/>
            <a:ext cx="1828800" cy="237744"/>
          </a:xfrm>
          <a:prstGeom prst="roundRect">
            <a:avLst>
              <a:gd name="adj" fmla="val 19231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0" y="914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Section 4 — Model Selection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822960"/>
            <a:ext cx="8595360" cy="658368"/>
          </a:xfrm>
          <a:prstGeom prst="roundRect">
            <a:avLst>
              <a:gd name="adj" fmla="val 11111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84124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C46A"/>
                </a:solidFill>
              </a:rPr>
              <a:t>🏆  Random Forest Regressor  —  RMSE: 16.52  |  MAE: 5.58  |  R²: 0.9996  |  Stability: Highest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1188720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8F3DC"/>
                </a:solidFill>
              </a:rPr>
              <a:t>n_estimators=200  |  max_depth=8  |  random_state=42  |  n_jobs=-1  (trained on 2021-24, tested on 2025-26)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1600200"/>
            <a:ext cx="283464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691640"/>
            <a:ext cx="411480" cy="41148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🌲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9536" y="1737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4332"/>
                </a:solidFill>
              </a:rPr>
              <a:t>01  Ensemble = Stability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2148840"/>
            <a:ext cx="26517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194560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Random Forest trains 200 individual decision trees on random subsets of data (bagging). Final prediction is the average of all 200 trees. This averaging effect drastically reduces variance and overfitting — something a single Decision Tree cannot do.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65760" y="2880360"/>
            <a:ext cx="2651760" cy="219456"/>
          </a:xfrm>
          <a:prstGeom prst="roundRect">
            <a:avLst>
              <a:gd name="adj" fmla="val 16667"/>
            </a:avLst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880360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B4332"/>
                </a:solidFill>
              </a:rPr>
              <a:t>💡 Decision Tree (RMSE 13.01) likely memorised training data at depth=8; RF averages away this noise.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74320" y="3227832"/>
            <a:ext cx="283464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319272"/>
            <a:ext cx="411480" cy="41148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319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🔀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9536" y="33649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4332"/>
                </a:solidFill>
              </a:rPr>
              <a:t>02  Handles Non-linearity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3776472"/>
            <a:ext cx="26517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822192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Crop production relationships are complex and non-linear. Area×Yield interaction, lag features, and seasonal effects cannot be captured by Linear/Ridge/Lasso models. RF tree splits naturally handle all these without explicit transformations.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65760" y="4507992"/>
            <a:ext cx="2651760" cy="219456"/>
          </a:xfrm>
          <a:prstGeom prst="roundRect">
            <a:avLst>
              <a:gd name="adj" fmla="val 16667"/>
            </a:avLst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507992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B4332"/>
                </a:solidFill>
              </a:rPr>
              <a:t>💡 Linear models (RMSE 33–38) proved insufficient — RF's R²=0.9996 confirms it captures the true pattern.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246120" y="1600200"/>
            <a:ext cx="283464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337560" y="1691640"/>
            <a:ext cx="411480" cy="41148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3756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⚖️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831336" y="1737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4332"/>
                </a:solidFill>
              </a:rPr>
              <a:t>03  Balanced Accuracy vs Robustness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337560" y="2148840"/>
            <a:ext cx="26517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55848" y="2194560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XGBoost scored slightly better on test (RMSE 13.47, R²=0.9997) but is more sensitive to hyperparameters and can overfit with sequential tree boosting. RF is more robust and production-safe for annual re-training.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337560" y="2880360"/>
            <a:ext cx="2651760" cy="219456"/>
          </a:xfrm>
          <a:prstGeom prst="roundRect">
            <a:avLst>
              <a:gd name="adj" fmla="val 16667"/>
            </a:avLst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3280" y="2880360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B4332"/>
                </a:solidFill>
              </a:rPr>
              <a:t>💡 For recurring annual forecasts, a stable model is preferred over marginal RMSE gains.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246120" y="3227832"/>
            <a:ext cx="283464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337560" y="3319272"/>
            <a:ext cx="411480" cy="41148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37560" y="3319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831336" y="33649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4332"/>
                </a:solidFill>
              </a:rPr>
              <a:t>04  Feature Importance Built-in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337560" y="3776472"/>
            <a:ext cx="26517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55848" y="3822192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RF provides native Gini-based feature importance. This confirmed Prod_lag1 (36.5%), Yield (22.6%), Yield_lag1 (19.8%) as top predictors.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337560" y="4507992"/>
            <a:ext cx="2651760" cy="219456"/>
          </a:xfrm>
          <a:prstGeom prst="roundRect">
            <a:avLst>
              <a:gd name="adj" fmla="val 16667"/>
            </a:avLst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83280" y="4507992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B4332"/>
                </a:solidFill>
              </a:rPr>
              <a:t>💡 No additional tools needed to explain which features drive predictions.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6217920" y="1600200"/>
            <a:ext cx="283464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309360" y="1691640"/>
            <a:ext cx="411480" cy="41148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0936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🔁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803136" y="1737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4332"/>
                </a:solidFill>
              </a:rPr>
              <a:t>05  Handles Missing Data Gracefully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309360" y="2148840"/>
            <a:ext cx="26517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27648" y="2194560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With only 78 clean rows, some crop-season-year combinations have null lags. RF trees can route samples down alternative branches when a feature is NaN, without breaking the entire prediction pipeline.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309360" y="2880360"/>
            <a:ext cx="2651760" cy="219456"/>
          </a:xfrm>
          <a:prstGeom prst="roundRect">
            <a:avLst>
              <a:gd name="adj" fmla="val 16667"/>
            </a:avLst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55080" y="2880360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B4332"/>
                </a:solidFill>
              </a:rPr>
              <a:t>💡 This robustness is critical when preliminary 2025-26 data is used for forecasting.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217920" y="3227832"/>
            <a:ext cx="283464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309360" y="3319272"/>
            <a:ext cx="411480" cy="41148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09360" y="33192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💾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803136" y="33649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4332"/>
                </a:solidFill>
              </a:rPr>
              <a:t>06  Serialisable &amp; Deployable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6309360" y="3776472"/>
            <a:ext cx="26517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27648" y="3822192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93B"/>
                </a:solidFill>
              </a:rPr>
              <a:t>RF can be saved as a .pkl file and reloaded annually with new data — no retraining of parameters, just re-fit with the updated dataset. Streamlit and Power BI dashboards can call the saved model in real-time.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309360" y="4507992"/>
            <a:ext cx="2651760" cy="219456"/>
          </a:xfrm>
          <a:prstGeom prst="roundRect">
            <a:avLst>
              <a:gd name="adj" fmla="val 16667"/>
            </a:avLst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55080" y="4507992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B4332"/>
                </a:solidFill>
              </a:rPr>
              <a:t>💡 Practical deployment requirement: model must be updatable every year without code changes.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 10 &amp; 11 — Actual vs Predicted Production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Scatter (all crops) and Line chart (excluding Sugarcane) — Section 5: Best Model Analysis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9144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0" y="91440"/>
            <a:ext cx="1828800" cy="237744"/>
          </a:xfrm>
          <a:prstGeom prst="roundRect">
            <a:avLst>
              <a:gd name="adj" fmla="val 19231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914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Section 5 — Chart 10&amp;11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" y="822960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332"/>
                </a:solidFill>
              </a:rPr>
              <a:t>Chart 10 — Scatter: All Crops (incl. Sugarcane)</a:t>
            </a:r>
            <a:endParaRPr lang="en-US" sz="10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78992"/>
            <a:ext cx="4251960" cy="23317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663440" y="822960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332"/>
                </a:solidFill>
              </a:rPr>
              <a:t>Chart 11 — Line: Excl. Sugarcane (finer detail)</a:t>
            </a:r>
            <a:endParaRPr lang="en-US" sz="10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078992"/>
            <a:ext cx="4251960" cy="233172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74320" y="3520440"/>
            <a:ext cx="365760" cy="36576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74320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49808" y="354787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Chart 10: All points lie extremely close to the y=x ideal line — model accuracy is near-perfect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274320" y="3886200"/>
            <a:ext cx="365760" cy="36576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7432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🌿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749808" y="391363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Sugarcane (top-right, ~4500) is also predicted accurately despite being a major outlier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274320" y="4251960"/>
            <a:ext cx="365760" cy="36576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74320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📉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749808" y="427939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Chart 11: Excluding Sugarcane shows predicted (gold dashed) trace nearly overlaps actual (green)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274320" y="4617720"/>
            <a:ext cx="365760" cy="36576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274320" y="4617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🏆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749808" y="464515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Near-zero residuals for most crops. Only a few mid-range observations show minor deviation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 12 &amp; 13 — Residual Analysis &amp; Feature Importance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Section 5: Residuals confirm no systematic bias | Feature importance from Random Forest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9144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91440"/>
            <a:ext cx="1828800" cy="237744"/>
          </a:xfrm>
          <a:prstGeom prst="roundRect">
            <a:avLst>
              <a:gd name="adj" fmla="val 19231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0" y="914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Section 5 — Chart 12&amp;13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" y="822960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332"/>
                </a:solidFill>
              </a:rPr>
              <a:t>Chart 12 — Residual Analysis (Random Forest)</a:t>
            </a:r>
            <a:endParaRPr lang="en-US" sz="10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78992"/>
            <a:ext cx="4251960" cy="21488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663440" y="822960"/>
            <a:ext cx="4251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332"/>
                </a:solidFill>
              </a:rPr>
              <a:t>Chart 13 — Feature Importance (Random Forest)</a:t>
            </a:r>
            <a:endParaRPr lang="en-US" sz="10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078992"/>
            <a:ext cx="4251960" cy="21488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74320" y="3337560"/>
            <a:ext cx="365760" cy="36576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7432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✅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49808" y="3364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Chart 12: Residuals mostly clustered near zero — no systematic over/under-prediction pattern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274320" y="3675888"/>
            <a:ext cx="365760" cy="36576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74320" y="3675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⚠️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749808" y="3703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Larger residuals appear for Sugarcane (predicted ~4500) — scale effect, not model bias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274320" y="4014216"/>
            <a:ext cx="365760" cy="36576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74320" y="4014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🥇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749808" y="40416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Chart 13: Prod_lag1 (36.5%) is #1 feature — prior year production is the best predictor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274320" y="4352544"/>
            <a:ext cx="365760" cy="36576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274320" y="4352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📊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749808" y="43799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Yield (22.6%), Yield_lag1 (19.8%), Area_x_Yield (17.3%) — top 4 explain ~96% of importance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274320" y="4690872"/>
            <a:ext cx="365760" cy="36576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274320" y="4690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💡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749808" y="47183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Area alone (1.6%) is weak predictor; interaction Area×Yield (17.3%) is far more powerful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 14 &amp; 15 — Production &amp; Yield Forecasts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Section 6: 2025-26 Actual vs 2026-27 Forecast | Yield trend with RF predictions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9144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0" y="91440"/>
            <a:ext cx="1828800" cy="237744"/>
          </a:xfrm>
          <a:prstGeom prst="roundRect">
            <a:avLst>
              <a:gd name="adj" fmla="val 19231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914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Section 6 — Chart 14&amp;15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" y="822960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332"/>
                </a:solidFill>
              </a:rPr>
              <a:t>Chart 14 — Top 10 Crops: 2025-26 Actual vs 2026-27 Forecast</a:t>
            </a:r>
            <a:endParaRPr lang="en-US" sz="10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78992"/>
            <a:ext cx="8595360" cy="21762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74320" y="3337560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332"/>
                </a:solidFill>
              </a:rPr>
              <a:t>Chart 15 — Actual vs Predicted Yield Trend (National Average)</a:t>
            </a:r>
            <a:endParaRPr lang="en-US" sz="10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593592"/>
            <a:ext cx="8595360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 Highlights — 2025-26 &amp; 2026-27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48640"/>
            <a:ext cx="7498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</a:rPr>
              <a:t>Section 6: Key figures from RF model predictions vs actuals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749808"/>
            <a:ext cx="9144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0" y="91440"/>
            <a:ext cx="1828800" cy="237744"/>
          </a:xfrm>
          <a:prstGeom prst="roundRect">
            <a:avLst>
              <a:gd name="adj" fmla="val 19231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914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Section 6 — Forecasting</a:t>
            </a:r>
            <a:endParaRPr lang="en-US" sz="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41248"/>
          <a:ext cx="5486400" cy="402336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Crop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2025-26 Actual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2026-27 Forecast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Growth %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Sugarcane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5,002.0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5,503.5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66534"/>
                          </a:solidFill>
                        </a:rPr>
                        <a:t>+10.0%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Rice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1,406.5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1,317.2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91B1B"/>
                          </a:solidFill>
                        </a:rPr>
                        <a:t>-6.3%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Wheat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1,202.1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1,225.2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66534"/>
                          </a:solidFill>
                        </a:rPr>
                        <a:t>+1.9%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Maize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461.5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490.6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66534"/>
                          </a:solidFill>
                        </a:rPr>
                        <a:t>+6.3%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Cotton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290.9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284.7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91B1B"/>
                          </a:solidFill>
                        </a:rPr>
                        <a:t>-2.1%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Rapeseed &amp; Mustard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133.3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140.3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66534"/>
                          </a:solidFill>
                        </a:rPr>
                        <a:t>+5.2%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Gram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117.9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125.1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66534"/>
                          </a:solidFill>
                        </a:rPr>
                        <a:t>+6.1%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Groundnut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120.9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122.4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66534"/>
                          </a:solidFill>
                        </a:rPr>
                        <a:t>+1.2%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Soybean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127.2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106.0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91B1B"/>
                          </a:solidFill>
                        </a:rPr>
                        <a:t>-16.7%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Jute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81.3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</a:rPr>
                        <a:t>77.8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91B1B"/>
                          </a:solidFill>
                        </a:rPr>
                        <a:t>-4.3%</a:t>
                      </a:r>
                      <a:endParaRPr lang="en-US" sz="950" dirty="0"/>
                    </a:p>
                  </a:txBody>
                  <a:tcPr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989320" y="8412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</a:rPr>
              <a:t>Forecast Insights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989320" y="1170432"/>
            <a:ext cx="2834640" cy="685800"/>
          </a:xfrm>
          <a:prstGeom prst="roundRect">
            <a:avLst>
              <a:gd name="adj" fmla="val 9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080760" y="1234440"/>
            <a:ext cx="365760" cy="36576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8076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🌾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510528" y="1207008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Sugarcane forecast +10.0% — highest absolute growth. Expansion driven by UP &amp; Maharashtra area increase.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989320" y="1920240"/>
            <a:ext cx="2834640" cy="685800"/>
          </a:xfrm>
          <a:prstGeom prst="roundRect">
            <a:avLst>
              <a:gd name="adj" fmla="val 9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80760" y="1984248"/>
            <a:ext cx="365760" cy="36576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9" name="Text 14"/>
          <p:cNvSpPr/>
          <p:nvPr/>
        </p:nvSpPr>
        <p:spPr>
          <a:xfrm>
            <a:off x="6080760" y="1984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📈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510528" y="1956816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Maize (+6.3%) &amp; Gram (+6.1%): positive outlook driven by rising domestic demand and MSP incentives.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989320" y="2670048"/>
            <a:ext cx="2834640" cy="685800"/>
          </a:xfrm>
          <a:prstGeom prst="roundRect">
            <a:avLst>
              <a:gd name="adj" fmla="val 9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080760" y="2734056"/>
            <a:ext cx="365760" cy="3657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80760" y="2734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⚠️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510528" y="2706624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Soybean (-16.7%): sharp decline forecast. Likely competition from imports and area shift to cotton.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989320" y="3419856"/>
            <a:ext cx="2834640" cy="685800"/>
          </a:xfrm>
          <a:prstGeom prst="roundRect">
            <a:avLst>
              <a:gd name="adj" fmla="val 9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80760" y="3483864"/>
            <a:ext cx="365760" cy="36576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080760" y="3483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🌱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510528" y="3456432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Wheat (+1.9%): modest growth — stable. India's primary food crop remains consistently cultivated.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989320" y="4169664"/>
            <a:ext cx="2834640" cy="685800"/>
          </a:xfrm>
          <a:prstGeom prst="roundRect">
            <a:avLst>
              <a:gd name="adj" fmla="val 9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080760" y="4233672"/>
            <a:ext cx="365760" cy="3657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080760" y="4233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</a:rPr>
              <a:t>🔮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510528" y="4206240"/>
            <a:ext cx="22677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</a:rPr>
              <a:t>Avg Yield forecast: 5,015 Kg/Ha in 2026-27 — up from 4,591 in 2025-26 (+9.2% growth).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Conclusion, Limitations &amp; Future 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49808"/>
            <a:ext cx="9144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22960"/>
            <a:ext cx="411480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8961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</a:rPr>
              <a:t>✅  Key Conclusions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252728"/>
            <a:ext cx="365760" cy="36576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52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32688" y="1280160"/>
            <a:ext cx="3310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Increasing trend in India's crop area (+11.7%), production (+22.9%) &amp; yield (+10.1%) over 2021-26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1618488"/>
            <a:ext cx="365760" cy="36576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618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32688" y="1645920"/>
            <a:ext cx="3310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Sugarcane is a persistent outlier — separate analysis essential to prevent model distortion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1984248"/>
            <a:ext cx="365760" cy="36576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984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32688" y="2011680"/>
            <a:ext cx="3310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Random Forest selected: R²=0.9996, RMSE=16.52 — explains 99.96% of variance in crop production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2350008"/>
            <a:ext cx="365760" cy="36576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350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32688" y="2377440"/>
            <a:ext cx="3310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Top predictors: Prod_lag1 (36.5%), Yield (22.6%), Yield_lag1 (19.8%), Area×Yield (17.3%)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2715768"/>
            <a:ext cx="365760" cy="36576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715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32688" y="2743200"/>
            <a:ext cx="3310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2026-27 forecast: Avg yield 5,015 Kg/Ha — strong positive trajectory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17720" y="822960"/>
            <a:ext cx="4206240" cy="2286000"/>
          </a:xfrm>
          <a:prstGeom prst="roundRect">
            <a:avLst>
              <a:gd name="adj" fmla="val 3200"/>
            </a:avLst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00600" y="8961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</a:rPr>
              <a:t>⚠️  Limitations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00600" y="1252728"/>
            <a:ext cx="365760" cy="36576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252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⚠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276088" y="1280160"/>
            <a:ext cx="3410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Excludes weather, rainfall, irrigation &amp; soil quality data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00600" y="1618488"/>
            <a:ext cx="365760" cy="36576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16184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⚠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276088" y="1645920"/>
            <a:ext cx="3410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State-level area &amp; yield data not fully integrated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00600" y="1984248"/>
            <a:ext cx="365760" cy="36576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1984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⚠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276088" y="2011680"/>
            <a:ext cx="3410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2025-26 forecasts rely on preliminary area data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00600" y="2350008"/>
            <a:ext cx="365760" cy="36576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2350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⚠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276088" y="2377440"/>
            <a:ext cx="3410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Linear growth assumption may miss climate-driven shocks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00600" y="2715768"/>
            <a:ext cx="365760" cy="365760"/>
          </a:xfrm>
          <a:prstGeom prst="ellipse">
            <a:avLst/>
          </a:prstGeom>
          <a:solidFill>
            <a:srgbClr val="D8F3DC"/>
          </a:solidFill>
          <a:ln w="12700">
            <a:solidFill>
              <a:srgbClr val="D8F3D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2715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0000"/>
                </a:solidFill>
              </a:rPr>
              <a:t>⚠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276088" y="2743200"/>
            <a:ext cx="3410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Only 5 years of data — limited temporal depth for deep learning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74320" y="32004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332"/>
                </a:solidFill>
              </a:rPr>
              <a:t>Future Work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74320" y="3547872"/>
            <a:ext cx="1627632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274320" y="3593592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🛰️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274320" y="400507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4332"/>
                </a:solidFill>
              </a:rPr>
              <a:t>Satellite &amp; Climate Data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74320" y="4279392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Integrate satellite imagery &amp; rainfall for precision forecasting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011680" y="3547872"/>
            <a:ext cx="1627632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2011680" y="3593592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2011680" y="400507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4332"/>
                </a:solidFill>
              </a:rPr>
              <a:t>LSTM / Transformer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011680" y="4279392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Deep learning models for temporal sequence modelling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749040" y="3547872"/>
            <a:ext cx="1627632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3749040" y="3593592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🗺️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3749040" y="400507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4332"/>
                </a:solidFill>
              </a:rPr>
              <a:t>District-Level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749040" y="4279392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Extend to district-level for targeted interventions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5486400" y="3547872"/>
            <a:ext cx="1627632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5486400" y="3593592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5486400" y="400507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4332"/>
                </a:solidFill>
              </a:rPr>
              <a:t>Live Dashboard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486400" y="4279392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Streamlit / Power BI for policymakers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7223760" y="3547872"/>
            <a:ext cx="1627632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7223760" y="3593592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7223760" y="400507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4332"/>
                </a:solidFill>
              </a:rPr>
              <a:t>Cross-Country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223760" y="4279392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Comparative ML crop studies globally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 &amp; Project Alignment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749808"/>
            <a:ext cx="91440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22960"/>
            <a:ext cx="8595360" cy="621792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78408"/>
            <a:ext cx="274320" cy="27432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78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31520" y="87782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332"/>
                </a:solidFill>
              </a:rPr>
              <a:t>Random Forest &amp; XGBoost consistently outperform linear models in crop yield prediction tasks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1170432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Source: Peer-reviewed agricultural ML literature (2019–2024)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583680" y="960120"/>
            <a:ext cx="2176272" cy="347472"/>
          </a:xfrm>
          <a:prstGeom prst="roundRect">
            <a:avLst>
              <a:gd name="adj" fmla="val 13158"/>
            </a:avLst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960120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 RF selected as best model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4320" y="1517904"/>
            <a:ext cx="85953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1673352"/>
            <a:ext cx="274320" cy="27432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1673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31520" y="157276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332"/>
                </a:solidFill>
              </a:rPr>
              <a:t>Lag features &amp; interaction terms are critical for time-series agricultural data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31520" y="1865376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Source: Feature engineering for temporal agricultural forecasting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583680" y="1655064"/>
            <a:ext cx="2176272" cy="347472"/>
          </a:xfrm>
          <a:prstGeom prst="roundRect">
            <a:avLst>
              <a:gd name="adj" fmla="val 13158"/>
            </a:avLst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1655064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 Prod_lag1, Area×Yield added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583680" y="2350008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 SHAP confirms Chart 13 ranks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74320" y="2907792"/>
            <a:ext cx="85953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3063240"/>
            <a:ext cx="274320" cy="27432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31520" y="2962656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332"/>
                </a:solidFill>
              </a:rPr>
              <a:t>Time-based splitting essential — random splits cause data leakage in time-series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31520" y="3255264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Source: ML methodology best practices for forecasting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583680" y="3044952"/>
            <a:ext cx="2176272" cy="347472"/>
          </a:xfrm>
          <a:prstGeom prst="roundRect">
            <a:avLst>
              <a:gd name="adj" fmla="val 13158"/>
            </a:avLst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3044952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 Train 2021-24, Test 2025-26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74320" y="3602736"/>
            <a:ext cx="8595360" cy="621792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" y="3758184"/>
            <a:ext cx="274320" cy="27432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7581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31520" y="36576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332"/>
                </a:solidFill>
              </a:rPr>
              <a:t>Outlier crops (Sugarcane) must be handled separately to avoid distorting model fit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31520" y="3950208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Source: Indian crop yield prediction studies (ICAR, 2021)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583680" y="3739896"/>
            <a:ext cx="2176272" cy="347472"/>
          </a:xfrm>
          <a:prstGeom prst="roundRect">
            <a:avLst>
              <a:gd name="adj" fmla="val 13158"/>
            </a:avLst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83680" y="3739896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 Separate heatmaps done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274320" y="2208276"/>
            <a:ext cx="85953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65760" y="2414971"/>
            <a:ext cx="274320" cy="274320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24277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13232" y="2306499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4332"/>
                </a:solidFill>
              </a:rPr>
              <a:t>Ensemble methods preferred over single models for agricultural production forecasting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13232" y="2563093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</a:rPr>
              <a:t>Source: Ensemble learning in precision agriculture (2023)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601968" y="2370582"/>
            <a:ext cx="2176272" cy="347472"/>
          </a:xfrm>
          <a:prstGeom prst="roundRect">
            <a:avLst>
              <a:gd name="adj" fmla="val 13158"/>
            </a:avLst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92240" y="2370582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 RF (200 trees) vs DT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760720" y="64008"/>
            <a:ext cx="3383280" cy="502462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365760"/>
            <a:ext cx="2926080" cy="292608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55080" y="777240"/>
            <a:ext cx="2103120" cy="2103120"/>
          </a:xfrm>
          <a:prstGeom prst="ellipse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37960" y="960120"/>
            <a:ext cx="17373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dirty="0">
                <a:solidFill>
                  <a:srgbClr val="000000"/>
                </a:solidFill>
              </a:rPr>
              <a:t>🌾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5943600" y="34290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9C46A"/>
                </a:solidFill>
              </a:rPr>
              <a:t>0.9996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0" y="365760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8F3DC"/>
                </a:solidFill>
              </a:rPr>
              <a:t>R² Score (RF)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43600" y="38404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9C46A"/>
                </a:solidFill>
              </a:rPr>
              <a:t>16.52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0" y="406908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8F3DC"/>
                </a:solidFill>
              </a:rPr>
              <a:t>RMSE — Test Set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43600" y="42519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9C46A"/>
                </a:solidFill>
              </a:rPr>
              <a:t>5,015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0" y="448056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8F3DC"/>
                </a:solidFill>
              </a:rPr>
              <a:t>Forecast Yield 2026-27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943600" y="46634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9C46A"/>
                </a:solidFill>
              </a:rPr>
              <a:t>30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0" y="489204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8F3DC"/>
                </a:solidFill>
              </a:rPr>
              <a:t>Crops Forecasted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5760" y="59436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16" name="Shape 14"/>
          <p:cNvSpPr/>
          <p:nvPr/>
        </p:nvSpPr>
        <p:spPr>
          <a:xfrm>
            <a:off x="365760" y="1536192"/>
            <a:ext cx="5029200" cy="0"/>
          </a:xfrm>
          <a:prstGeom prst="line">
            <a:avLst/>
          </a:prstGeom>
          <a:noFill/>
          <a:ln w="25400">
            <a:solidFill>
              <a:srgbClr val="40916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645920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Crop Yield, Area &amp; Production Analysis and Prediction in India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208483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Rubhashree M  |  Reg. No.: 2514021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24231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Guide: Dr M Balaji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063240"/>
            <a:ext cx="1207008" cy="1417320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3127248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🤖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65760" y="3547872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Best Model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65760" y="3785616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4332"/>
                </a:solidFill>
              </a:rPr>
              <a:t>Random Forest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664208" y="3063240"/>
            <a:ext cx="1207008" cy="1417320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664208" y="3127248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664208" y="3547872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R²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664208" y="3785616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4332"/>
                </a:solidFill>
              </a:rPr>
              <a:t>0.9996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962656" y="3063240"/>
            <a:ext cx="1207008" cy="1417320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962656" y="3127248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🌾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2962656" y="3547872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Crops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962656" y="3785616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4332"/>
                </a:solidFill>
              </a:rPr>
              <a:t>30 Crops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261104" y="3063240"/>
            <a:ext cx="1207008" cy="1417320"/>
          </a:xfrm>
          <a:prstGeom prst="roundRect">
            <a:avLst>
              <a:gd name="adj" fmla="val 60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261104" y="3127248"/>
            <a:ext cx="1207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🔮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261104" y="3547872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</a:rPr>
              <a:t>Forecast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261104" y="3785616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4332"/>
                </a:solidFill>
              </a:rPr>
              <a:t>2026-27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459028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0916C"/>
                </a:solidFill>
              </a:rPr>
              <a:t>Questions &amp; Discussion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</TotalTime>
  <Words>3297</Words>
  <Application>Microsoft Office PowerPoint</Application>
  <PresentationFormat>On-screen Show (16:9)</PresentationFormat>
  <Paragraphs>550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Crop Yield Area Production Analysis Prediction India</dc:title>
  <dc:subject>PptxGenJS Presentation</dc:subject>
  <dc:creator>PptxGenJS</dc:creator>
  <cp:lastModifiedBy>Rubhashree M</cp:lastModifiedBy>
  <cp:revision>21</cp:revision>
  <dcterms:created xsi:type="dcterms:W3CDTF">2026-06-15T04:38:40Z</dcterms:created>
  <dcterms:modified xsi:type="dcterms:W3CDTF">2026-06-17T01:56:44Z</dcterms:modified>
</cp:coreProperties>
</file>